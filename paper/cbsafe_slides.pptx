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Segoe UI"/>
              </a:rPr>
              <a:t>RESEARCH PRESENTATION · POST-QUANTUM CRYPTOGRAPHY × FEDERATED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B0B0B"/>
                </a:solidFill>
                <a:latin typeface="Segoe UI"/>
              </a:rPr>
              <a:t>CB-SAFE: Code-Based Post-Quantum Secure Aggregation for Byzantine-Robust Federated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6251F"/>
                </a:solidFill>
                <a:latin typeface="Segoe UI"/>
              </a:rPr>
              <a:t>Md Wahiduzzaman Suva (26-94088-2)   ·   Esm-e Moula Chowdhury Abha (26-94089-2)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83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Department of Computer Science, American International University–Bangladesh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What this research is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The setting: </a:t>
            </a:r>
            <a:r>
              <a:rPr sz="1600">
                <a:solidFill>
                  <a:srgbClr val="26251F"/>
                </a:solidFill>
                <a:latin typeface="Segoe UI"/>
              </a:rPr>
              <a:t>federated learning (FL) trains one shared model across many devices; data never leaves the client, only model updates travel.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What we are trying to do: </a:t>
            </a:r>
            <a:r>
              <a:rPr sz="1600">
                <a:solidFill>
                  <a:srgbClr val="26251F"/>
                </a:solidFill>
                <a:latin typeface="Segoe UI"/>
              </a:rPr>
              <a:t>keep those updates private against future quantum computers AND keep training correct when some clients are malicious.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What we propose: </a:t>
            </a:r>
            <a:r>
              <a:rPr sz="1600">
                <a:solidFill>
                  <a:srgbClr val="26251F"/>
                </a:solidFill>
                <a:latin typeface="Segoe UI"/>
              </a:rPr>
              <a:t>CB-SAFE, a secure-aggregation framework whose post-quantum protection comes from a code-based scheme (HQC) instead of the usual lattices, extended with a poisoning defense.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2103120" cy="9144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Clients train locally
(private data)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4608576"/>
            <a:ext cx="77724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encrypted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297680"/>
            <a:ext cx="2286000" cy="9144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Server aggregates
(sees no individual update)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400800" y="4608576"/>
            <a:ext cx="77724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4297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new global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97680"/>
            <a:ext cx="2103120" cy="91440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Better shared model,
privacy intact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4297680"/>
            <a:ext cx="1737360" cy="91440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Threats:
quantum + poisoning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The problem: three threats meet in one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Updates leak. </a:t>
            </a:r>
            <a:r>
              <a:rPr sz="1600">
                <a:solidFill>
                  <a:srgbClr val="26251F"/>
                </a:solidFill>
                <a:latin typeface="Segoe UI"/>
              </a:rPr>
              <a:t>Gradient-inversion attacks reconstruct private training images from a single client's update, so updates must be hidden.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Secure aggregation hides them </a:t>
            </a:r>
            <a:r>
              <a:rPr sz="1600">
                <a:solidFill>
                  <a:srgbClr val="26251F"/>
                </a:solidFill>
                <a:latin typeface="Segoe UI"/>
              </a:rPr>
              <a:t>with pairwise masks that cancel in the sum, but its key exchange breaks once a quantum computer exists (“harvest now, decrypt later”).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All post-quantum fixes use one math family (lattices) </a:t>
            </a:r>
            <a:r>
              <a:rPr sz="1600">
                <a:solidFill>
                  <a:srgbClr val="26251F"/>
                </a:solidFill>
                <a:latin typeface="Segoe UI"/>
              </a:rPr>
              <a:t>and hiding updates also blinds the server to poisoned updates from malicious clients.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160520"/>
            <a:ext cx="2743200" cy="86868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Privacy threat:
updates reveal training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4160520"/>
            <a:ext cx="2743200" cy="86868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Quantum threat:
key exchange breaks (Shor)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160520"/>
            <a:ext cx="2743200" cy="86868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Poisoning threat:
malicious clients flip the model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322576" y="5120640"/>
            <a:ext cx="292608" cy="365760"/>
          </a:xfrm>
          <a:prstGeom prst="down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5888736" y="5120640"/>
            <a:ext cx="292608" cy="365760"/>
          </a:xfrm>
          <a:prstGeom prst="down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9454896" y="5120640"/>
            <a:ext cx="292608" cy="365760"/>
          </a:xfrm>
          <a:prstGeom prst="down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5577840"/>
            <a:ext cx="5852160" cy="77724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0B0B0B"/>
                </a:solidFill>
                <a:latin typeface="Segoe UI"/>
              </a:rPr>
              <a:t>FL secure aggregation must survive all three at 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CLOSELY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How the closest peer-reviewed paper solves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52514E"/>
                </a:solidFill>
                <a:latin typeface="Segoe UI"/>
              </a:rPr>
              <a:t>PQSF: “Post-quantum secure privacy-preserving federated learning”, Zhang et al., Scientific Reports 14, 2024 (peer-reviewed)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Their solution: </a:t>
            </a:r>
            <a:r>
              <a:rPr sz="1600">
                <a:solidFill>
                  <a:srgbClr val="26251F"/>
                </a:solidFill>
                <a:latin typeface="Segoe UI"/>
              </a:rPr>
              <a:t>the Bonawitz-style masking protocol, made quantum-safe with lattice cryptography: a lattice multi-stage secret-sharing scheme reconstructs the masks, so the server still learns only the sum of updates.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What works: </a:t>
            </a:r>
            <a:r>
              <a:rPr sz="1600">
                <a:solidFill>
                  <a:srgbClr val="26251F"/>
                </a:solidFill>
                <a:latin typeface="Segoe UI"/>
              </a:rPr>
              <a:t>peer-reviewed evidence that post-quantum secure aggregation is practical in FL; our confidentiality layer follows the same masking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51960"/>
            <a:ext cx="3383280" cy="105156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0">
                <a:solidFill>
                  <a:srgbClr val="0B0B0B"/>
                </a:solidFill>
                <a:latin typeface="Segoe UI"/>
              </a:rPr>
              <a:t>Gap 1 · Lattice-only
One cryptanalytic advance
breaks everything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251960"/>
            <a:ext cx="3383280" cy="105156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0">
                <a:solidFill>
                  <a:srgbClr val="0B0B0B"/>
                </a:solidFill>
                <a:latin typeface="Segoe UI"/>
              </a:rPr>
              <a:t>Gap 2 · No robustness
A poisoned update passes
straight through the sum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251960"/>
            <a:ext cx="3383280" cy="105156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0">
                <a:solidFill>
                  <a:srgbClr val="0B0B0B"/>
                </a:solidFill>
                <a:latin typeface="Segoe UI"/>
              </a:rPr>
              <a:t>Gap 3 · Hard-wired primitive
Cannot swap the KEM
when standards evolve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A78D6"/>
                </a:solidFill>
                <a:latin typeface="Segoe UI"/>
              </a:rPr>
              <a:t>CB-SAFE targets exactly these gaps. (2026 preprints confirm the gap is live: lattice+reputation and quantum-hardware approaches, but none is code-based.)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OUR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CB-SAFE: one training round,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6251F"/>
                </a:solidFill>
                <a:latin typeface="Segoe UI"/>
              </a:rPr>
              <a:t>Code-based (HQC) key setup happens once; every round then runs entirely on cheap masks.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1965960" cy="73152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Cluster 1
(c clients, masked)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91840"/>
            <a:ext cx="1965960" cy="73152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Cluster 2
(c clients, masked)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⋮   (k clusters)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80360" y="3246120"/>
            <a:ext cx="73152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9352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masks cancel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2834640"/>
            <a:ext cx="2377440" cy="15544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0B0B0B"/>
                </a:solidFill>
                <a:latin typeface="Segoe UI"/>
              </a:rPr>
              <a:t>Server sees ONLY
k cluster sums
S₁ … Sₖ
(never an individual)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63640" y="3246120"/>
            <a:ext cx="73152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9352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inspect sums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834640"/>
            <a:ext cx="2286000" cy="155448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0">
                <a:solidFill>
                  <a:srgbClr val="0B0B0B"/>
                </a:solidFill>
                <a:latin typeface="Segoe UI"/>
              </a:rPr>
              <a:t>Robust aggregation
+ CB-SAFE+ defense
(flag &amp; exclude attackers)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555480" y="3246120"/>
            <a:ext cx="73152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32720" y="2971800"/>
            <a:ext cx="1463040" cy="128016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Global
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57800"/>
            <a:ext cx="5486400" cy="6400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0B0B0B"/>
                </a:solidFill>
                <a:latin typeface="Segoe UI"/>
              </a:rPr>
              <a:t>ONE-TIME: HQC (code-based KEM) key setup (pluggable: swap in ML-KEM/Kyber with one config line)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5257800"/>
            <a:ext cx="5257800" cy="64008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0">
                <a:solidFill>
                  <a:srgbClr val="0B0B0B"/>
                </a:solidFill>
                <a:latin typeface="Segoe UI"/>
              </a:rPr>
              <a:t>EVERY ROUND: fresh masks from stored secrets: zero KEM bytes on the wire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PROPOSAL · CONFIDENTIALITY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Hide every update, pay for crypto only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Each client adds secret masks to its update; </a:t>
            </a:r>
            <a:r>
              <a:rPr sz="1600">
                <a:solidFill>
                  <a:srgbClr val="26251F"/>
                </a:solidFill>
                <a:latin typeface="Segoe UI"/>
              </a:rPr>
              <a:t>within a cluster the masks cancel, so the sum is exact but individuals stay hidden (anonymity set = cluster size).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Guarantee (proved): </a:t>
            </a:r>
            <a:r>
              <a:rPr sz="1600">
                <a:solidFill>
                  <a:srgbClr val="26251F"/>
                </a:solidFill>
                <a:latin typeface="Segoe UI"/>
              </a:rPr>
              <a:t>the server, even colluding with some clients, learns nothing beyond each cluster's sum.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Dropouts handled: </a:t>
            </a:r>
            <a:r>
              <a:rPr sz="1600">
                <a:solidFill>
                  <a:srgbClr val="26251F"/>
                </a:solidFill>
                <a:latin typeface="Segoe UI"/>
              </a:rPr>
              <a:t>secret-sharing recovers the masks of clients who disconnect mid-round.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3108960" cy="13716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SETUP (once)
publish HQC public keys,
establish pairwise secrets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9080" y="4526279"/>
            <a:ext cx="82296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421538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stored secrets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977639"/>
            <a:ext cx="3108960" cy="137160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EVERY ROUND
derive fresh masks locally
(no new crypto traffic)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75320" y="4526279"/>
            <a:ext cx="822960" cy="292608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21538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514E"/>
                </a:solidFill>
                <a:latin typeface="Segoe UI"/>
              </a:rPr>
              <a:t>masked update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977639"/>
            <a:ext cx="2377440" cy="137160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0">
                <a:solidFill>
                  <a:srgbClr val="0B0B0B"/>
                </a:solidFill>
                <a:latin typeface="Segoe UI"/>
              </a:rPr>
              <a:t>SERVER
sums per cluster,
masks vanish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PROPOSAL · CB-SAFE+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Catch attackers the server never sees individually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881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Key insight: </a:t>
            </a:r>
            <a:r>
              <a:rPr sz="1600">
                <a:solidFill>
                  <a:srgbClr val="26251F"/>
                </a:solidFill>
                <a:latin typeface="Segoe UI"/>
              </a:rPr>
              <a:t>a poisoned cluster sum looks normal in size but pushes the model the wrong way; a tiny server-side dataset (200 samples) exposes it: applying that sum raises the loss.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>
                <a:solidFill>
                  <a:srgbClr val="2A78D6"/>
                </a:solidFill>
                <a:latin typeface="Segoe UI"/>
              </a:rPr>
              <a:t>▪  </a:t>
            </a:r>
            <a:r>
              <a:rPr sz="1600" b="1">
                <a:solidFill>
                  <a:srgbClr val="0B0B0B"/>
                </a:solidFill>
                <a:latin typeface="Segoe UI"/>
              </a:rPr>
              <a:t>Repetition identifies individuals: </a:t>
            </a:r>
            <a:r>
              <a:rPr sz="1600">
                <a:solidFill>
                  <a:srgbClr val="26251F"/>
                </a:solidFill>
                <a:latin typeface="Segoe UI"/>
              </a:rPr>
              <a:t>clusters are reshuffled every round, so a real attacker is inside a flagged cluster almost every round while honest clients are flagged only occasionally.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1874519" cy="13258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1 · Reshuffle
new random clusters
every round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51760" y="4041647"/>
            <a:ext cx="292608" cy="27432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3520440"/>
            <a:ext cx="1874519" cy="13258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2 · Probe
does each cluster sum
raise root-set loss?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2040" y="4041647"/>
            <a:ext cx="292608" cy="27432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3520440"/>
            <a:ext cx="1874519" cy="1325880"/>
          </a:xfrm>
          <a:prstGeom prst="roundRect">
            <a:avLst/>
          </a:prstGeom>
          <a:solidFill>
            <a:srgbClr val="FBEFEF"/>
          </a:solidFill>
          <a:ln w="15875">
            <a:solidFill>
              <a:srgbClr val="E34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3 · Flag
mark suspicious
cluster sums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4041647"/>
            <a:ext cx="292608" cy="27432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3520440"/>
            <a:ext cx="1874519" cy="1325880"/>
          </a:xfrm>
          <a:prstGeom prst="roundRect">
            <a:avLst/>
          </a:prstGeom>
          <a:solidFill>
            <a:srgbClr val="F2F5FA"/>
          </a:solidFill>
          <a:ln w="15875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4 · Score
suspicion += 1 for all
members of flagged clusters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2600" y="4041647"/>
            <a:ext cx="292608" cy="274320"/>
          </a:xfrm>
          <a:prstGeom prst="rightArrow">
            <a:avLst/>
          </a:prstGeom>
          <a:solidFill>
            <a:srgbClr val="525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92640" y="3520440"/>
            <a:ext cx="1874519" cy="1325880"/>
          </a:xfrm>
          <a:prstGeom prst="roundRect">
            <a:avLst/>
          </a:prstGeom>
          <a:solidFill>
            <a:srgbClr val="EEF7F2"/>
          </a:solidFill>
          <a:ln w="15875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50" b="0">
                <a:solidFill>
                  <a:srgbClr val="0B0B0B"/>
                </a:solidFill>
                <a:latin typeface="Segoe UI"/>
              </a:rPr>
              <a:t>5 · Exclude
persistent suspects are
removed from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Flags are computed from sums the server already holds, so the defense leaks nothing extra (proved).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How we evaluate: five KPI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8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8308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60520"/>
                <a:gridCol w="393192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KPI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What it measures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How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Communication overhead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bytes per client: one-time setup vs every round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counted from real protocol messages (liboqs)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Computation time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key setup, masking, unmasking wall-clock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measured per round on real hardware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Utility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test accuracy vs plain FedAvg (must match)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CIFAR-10, non-IID, 30 clients, 40 rounds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Robustness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accuracy &amp; attack success rate vs attacker fraction f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sign-flip, label-flip, backdoor at f = 10–30%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6251F"/>
                          </a:solidFill>
                          <a:latin typeface="Segoe UI"/>
                        </a:rPr>
                        <a:t>Identification quality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attackers caught / honest clients wrongly excluded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6251F"/>
                          </a:solidFill>
                          <a:latin typeface="Segoe UI"/>
                        </a:rPr>
                        <a:t>vs ground truth across all runs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623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Baselines: plain FedAvg, lattice (ML-KEM) variant, and four standard robust rules (mean, trimmed mean, median, Multi-Krum), all at matched NIST security levels.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EVALUATION · KPI 1 &amp; 2 (COST)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The code-based premium is a one-time constant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Every round costs the same for all six KEMs: </a:t>
            </a:r>
            <a:r>
              <a:rPr sz="1550">
                <a:solidFill>
                  <a:srgbClr val="26251F"/>
                </a:solidFill>
                <a:latin typeface="Segoe UI"/>
              </a:rPr>
              <a:t>2,277 KiB per client; the update itself dominates.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Setup (once): </a:t>
            </a:r>
            <a:r>
              <a:rPr sz="1550">
                <a:solidFill>
                  <a:srgbClr val="26251F"/>
                </a:solidFill>
                <a:latin typeface="Segoe UI"/>
              </a:rPr>
              <a:t>HQC 15.2 KiB vs ML-KEM 3.8 KiB per client, under 0.03% of 40 rounds' traffic.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Time: </a:t>
            </a:r>
            <a:r>
              <a:rPr sz="1550">
                <a:solidFill>
                  <a:srgbClr val="26251F"/>
                </a:solidFill>
                <a:latin typeface="Segoe UI"/>
              </a:rPr>
              <a:t>2.0 s one-time key setup for 30 clients; ~26 ms masking per round vs ~21 s of training.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Takeaway: </a:t>
            </a:r>
            <a:r>
              <a:rPr sz="1550">
                <a:solidFill>
                  <a:srgbClr val="26251F"/>
                </a:solidFill>
                <a:latin typeface="Segoe UI"/>
              </a:rPr>
              <a:t>cryptographic diversity is practically free once keys are reused.</a:t>
            </a:r>
          </a:p>
        </p:txBody>
      </p:sp>
      <p:pic>
        <p:nvPicPr>
          <p:cNvPr id="8" name="Picture 7" descr="fig_amor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5074920" cy="35160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580644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Even the heaviest HQC setup is ~2% of ONE round's traffic (log scale).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EVALUATION · KPI 3 (UTILITY)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Privacy provably costs no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59.0% on non-IID CIFAR-10 </a:t>
            </a:r>
            <a:r>
              <a:rPr sz="1550">
                <a:solidFill>
                  <a:srgbClr val="26251F"/>
                </a:solidFill>
                <a:latin typeface="Segoe UI"/>
              </a:rPr>
              <a:t>(30 clients, 40 rounds), identical for plain, HQC, and ML-KEM runs.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Why identical: </a:t>
            </a:r>
            <a:r>
              <a:rPr sz="1550">
                <a:solidFill>
                  <a:srgbClr val="26251F"/>
                </a:solidFill>
                <a:latin typeface="Segoe UI"/>
              </a:rPr>
              <a:t>secure sums matched plain sums in every round to 2.28×10⁻⁵, exactly the rounding limit; the crypto changes nothing else.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Dropout recovery verified live </a:t>
            </a:r>
            <a:r>
              <a:rPr sz="1550">
                <a:solidFill>
                  <a:srgbClr val="26251F"/>
                </a:solidFill>
                <a:latin typeface="Segoe UI"/>
              </a:rPr>
              <a:t>in rounds 10 and 20, including graceful exclusion of a below-threshold cluster.</a:t>
            </a:r>
          </a:p>
        </p:txBody>
      </p:sp>
      <p:pic>
        <p:nvPicPr>
          <p:cNvPr id="8" name="Picture 7" descr="fig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03120"/>
            <a:ext cx="5074920" cy="31478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580644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One accuracy curve serves all three configurations.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EVALUATION · KPI 4 &amp; 5 (ROBUSTNESS)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Standard rules collapse; CB-SAFE+ recovers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Why rules fail: </a:t>
            </a:r>
            <a:r>
              <a:rPr sz="1550">
                <a:solidFill>
                  <a:srgbClr val="26251F"/>
                </a:solidFill>
                <a:latin typeface="Segoe UI"/>
              </a:rPr>
              <a:t>averaging inside a cluster disguises the poison (the sum has a normal size, just the wrong direction), so trimmed mean and median fall to 10% (random guessing) at f ≥ 20%.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CB-SAFE+ result: </a:t>
            </a:r>
            <a:r>
              <a:rPr sz="1550">
                <a:solidFill>
                  <a:srgbClr val="26251F"/>
                </a:solidFill>
                <a:latin typeface="Segoe UI"/>
              </a:rPr>
              <a:t>catches 8 of 9 attackers at f = 30% with zero honest clients wrongly excluded, recovering 42.8% where every static rule reads 10–17%.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50">
                <a:solidFill>
                  <a:srgbClr val="2A78D6"/>
                </a:solidFill>
                <a:latin typeface="Segoe UI"/>
              </a:rPr>
              <a:t>▪  </a:t>
            </a:r>
            <a:r>
              <a:rPr sz="1550" b="1">
                <a:solidFill>
                  <a:srgbClr val="0B0B0B"/>
                </a:solidFill>
                <a:latin typeface="Segoe UI"/>
              </a:rPr>
              <a:t>Honest limits: </a:t>
            </a:r>
            <a:r>
              <a:rPr sz="1550">
                <a:solidFill>
                  <a:srgbClr val="26251F"/>
                </a:solidFill>
                <a:latin typeface="Segoe UI"/>
              </a:rPr>
              <a:t>stealthy backdoors evade all sum-level defenses (93–97% attack success for every rule); Multi-Krum stays stronger at f = 20%.</a:t>
            </a:r>
          </a:p>
        </p:txBody>
      </p:sp>
      <p:pic>
        <p:nvPicPr>
          <p:cNvPr id="8" name="Picture 7" descr="fig_signflip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5074920" cy="34104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580644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Sign-flip attack: accuracy vs attacker fraction, per aggregation rule.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A78D6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Takeaways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CB-SAFE · Suva &amp; Chowdhury · AIUB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</a:t>
            </a:r>
            <a:r>
              <a:rPr sz="1700" b="1">
                <a:solidFill>
                  <a:srgbClr val="0B0B0B"/>
                </a:solidFill>
                <a:latin typeface="Segoe UI"/>
              </a:rPr>
              <a:t>Diversity delivered: </a:t>
            </a:r>
            <a:r>
              <a:rPr sz="1700">
                <a:solidFill>
                  <a:srgbClr val="26251F"/>
                </a:solidFill>
                <a:latin typeface="Segoe UI"/>
              </a:rPr>
              <a:t>the first code-based post-quantum secure aggregation for FL, at a one-time cost under 0.03% of traffic.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</a:t>
            </a:r>
            <a:r>
              <a:rPr sz="1700" b="1">
                <a:solidFill>
                  <a:srgbClr val="0B0B0B"/>
                </a:solidFill>
                <a:latin typeface="Segoe UI"/>
              </a:rPr>
              <a:t>New understanding: </a:t>
            </a:r>
            <a:r>
              <a:rPr sz="1700">
                <a:solidFill>
                  <a:srgbClr val="26251F"/>
                </a:solidFill>
                <a:latin typeface="Segoe UI"/>
              </a:rPr>
              <a:t>secure aggregation launders poisoning; defenses must use signals that survive summation, accumulated over rounds.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</a:t>
            </a:r>
            <a:r>
              <a:rPr sz="1700" b="1">
                <a:solidFill>
                  <a:srgbClr val="0B0B0B"/>
                </a:solidFill>
                <a:latin typeface="Segoe UI"/>
              </a:rPr>
              <a:t>New defense: </a:t>
            </a:r>
            <a:r>
              <a:rPr sz="1700">
                <a:solidFill>
                  <a:srgbClr val="26251F"/>
                </a:solidFill>
                <a:latin typeface="Segoe UI"/>
              </a:rPr>
              <a:t>CB-SAFE+ identifies individual attackers from group observations only, with zero extra privacy leakage.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</a:t>
            </a:r>
            <a:r>
              <a:rPr sz="1700" b="1">
                <a:solidFill>
                  <a:srgbClr val="0B0B0B"/>
                </a:solidFill>
                <a:latin typeface="Segoe UI"/>
              </a:rPr>
              <a:t>Open problems: </a:t>
            </a:r>
            <a:r>
              <a:rPr sz="1700">
                <a:solidFill>
                  <a:srgbClr val="26251F"/>
                </a:solidFill>
                <a:latin typeface="Segoe UI"/>
              </a:rPr>
              <a:t>stealthy backdoors, actively malicious servers, adaptive attackers.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>
                <a:solidFill>
                  <a:srgbClr val="2A78D6"/>
                </a:solidFill>
                <a:latin typeface="Segoe UI"/>
              </a:rPr>
              <a:t>▪  </a:t>
            </a:r>
            <a:r>
              <a:rPr sz="1700" b="1">
                <a:solidFill>
                  <a:srgbClr val="0B0B0B"/>
                </a:solidFill>
                <a:latin typeface="Segoe UI"/>
              </a:rPr>
              <a:t>In progress: </a:t>
            </a:r>
            <a:r>
              <a:rPr sz="1700">
                <a:solidFill>
                  <a:srgbClr val="26251F"/>
                </a:solidFill>
                <a:latin typeface="Segoe UI"/>
              </a:rPr>
              <a:t>multi-seed statistics, a second dataset, 100-client scale; implementation released open-source.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